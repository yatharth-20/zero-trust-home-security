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1B2635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B2635"/>
                </a:solidFill>
                <a:latin typeface="Arial" panose="020B0604020202020204"/>
              </a:rPr>
              <a:t>Sample Weighting per Anomaly Type</a:t>
            </a:r>
            <a:endParaRPr sz="1200" b="0" i="0" u="none" strike="noStrike">
              <a:solidFill>
                <a:srgbClr val="1B2635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Contribution</c:v>
                </c:pt>
              </c:strCache>
            </c:strRef>
          </c:tx>
          <c:spPr>
            <a:solidFill>
              <a:srgbClr val="1221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100" b="0" i="0" u="none" strike="noStrike" kern="1200" baseline="0">
                    <a:solidFill>
                      <a:srgbClr val="1B2635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Odd-Hour Entry</c:v>
                </c:pt>
                <c:pt idx="1">
                  <c:v>Tailgating Detected</c:v>
                </c:pt>
                <c:pt idx="2">
                  <c:v>Unrecognized Presence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100" b="0" i="0" u="none" strike="noStrike" kern="1200" baseline="0">
                <a:solidFill>
                  <a:srgbClr val="5B6B8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12700" cap="flat" cmpd="sng" algn="ctr">
              <a:solidFill>
                <a:srgbClr val="E4E9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5B6B8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696e074-a686-4cd5-8700-142296bc1762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863840" y="-1097280"/>
            <a:ext cx="5943600" cy="5943600"/>
          </a:xfrm>
          <a:prstGeom prst="roundRect">
            <a:avLst>
              <a:gd name="adj" fmla="val 23077"/>
            </a:avLst>
          </a:prstGeom>
          <a:solidFill>
            <a:srgbClr val="1F3A5F"/>
          </a:solidFill>
        </p:spPr>
      </p:sp>
      <p:sp>
        <p:nvSpPr>
          <p:cNvPr id="3" name="Shape 1"/>
          <p:cNvSpPr/>
          <p:nvPr/>
        </p:nvSpPr>
        <p:spPr>
          <a:xfrm rot="1200000">
            <a:off x="8778240" y="-365760"/>
            <a:ext cx="4206240" cy="4206240"/>
          </a:xfrm>
          <a:prstGeom prst="roundRect">
            <a:avLst>
              <a:gd name="adj" fmla="val 26087"/>
            </a:avLst>
          </a:prstGeom>
          <a:solidFill>
            <a:srgbClr val="294B78"/>
          </a:solidFill>
        </p:spPr>
      </p:sp>
      <p:sp>
        <p:nvSpPr>
          <p:cNvPr id="4" name="Shape 2"/>
          <p:cNvSpPr/>
          <p:nvPr/>
        </p:nvSpPr>
        <p:spPr>
          <a:xfrm>
            <a:off x="9692640" y="2194560"/>
            <a:ext cx="2103120" cy="2103120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5" name="Shape 3"/>
          <p:cNvSpPr/>
          <p:nvPr/>
        </p:nvSpPr>
        <p:spPr>
          <a:xfrm>
            <a:off x="10195560" y="2697480"/>
            <a:ext cx="1097280" cy="10972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RESEARCH PROJECT · ACADEMIC YEAR SYNOPSIS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69494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Multi-Modal Intrusion Detection for AI-Driven Zero-Trust Smart Home Security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6675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Extending child-safety protection beyond facial recognition through context-aware, evidence-driven threat detection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4709160"/>
            <a:ext cx="128016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463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Researcher: Yatharth,Humera,Meghaaa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193792"/>
            <a:ext cx="5943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Full-year academic research study  ·  Formatted per Major Project Synopsis guidelines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GAP IN CONVENTIONAL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Verified Face Is Not the Same as a Safe Situation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smart-home systems stop reasoning the instant a face is matched: one correct identification is treated as proof the whole scene is safe. That single check ignores everything that happens next — who else is nearby, why the person is there, or what they do once inside.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3093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429000"/>
            <a:ext cx="5669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REALISTIC BLIND SPOT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5669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cleared household worker — recognized correctly — opens the door. A second, unrecognized person follows in behind them, on purpose or without the worker noticing. A system that trusts on sight alone has no way to catch this moment.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566928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29200"/>
            <a:ext cx="5669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122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approach: treat every person, every time, as unverified until the full context checks out.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78040" y="1554480"/>
            <a:ext cx="457200" cy="45720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1" name="Text 9"/>
          <p:cNvSpPr/>
          <p:nvPr/>
        </p:nvSpPr>
        <p:spPr>
          <a:xfrm>
            <a:off x="7178040" y="1554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0" y="152704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Continuous Re-verification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1856232"/>
            <a:ext cx="3886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is re-earned for every individual, at every point of the interaction — not granted once and remembered.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2971800"/>
            <a:ext cx="457200" cy="45720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5" name="Text 13"/>
          <p:cNvSpPr/>
          <p:nvPr/>
        </p:nvSpPr>
        <p:spPr>
          <a:xfrm>
            <a:off x="7178040" y="2971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Whole-Scene Reasoning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0" y="3273552"/>
            <a:ext cx="3886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 weigh the full picture — who, when, where, and how — rather than a lone identity match.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78040" y="4389120"/>
            <a:ext cx="457200" cy="45720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9" name="Text 17"/>
          <p:cNvSpPr/>
          <p:nvPr/>
        </p:nvSpPr>
        <p:spPr>
          <a:xfrm>
            <a:off x="7178040" y="4389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0" y="436168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Never Trust, Always Verify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0" y="4690872"/>
            <a:ext cx="3886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guiding rule behind every design choice in this system, applied without exception.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MULTI-PERSON AWARENESS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Catching the Person Who Slips In Behind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6309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SYSTEM SEES A DOORWAY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384048" cy="384048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7" name="Text 5"/>
          <p:cNvSpPr/>
          <p:nvPr/>
        </p:nvSpPr>
        <p:spPr>
          <a:xfrm>
            <a:off x="868680" y="22402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5806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Scan Every Face Independently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17320" y="2478024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person in frame is evaluated on their own merits — not by association with whoever else is present.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209544"/>
            <a:ext cx="384048" cy="384048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1" name="Text 9"/>
          <p:cNvSpPr/>
          <p:nvPr/>
        </p:nvSpPr>
        <p:spPr>
          <a:xfrm>
            <a:off x="868680" y="320954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163824"/>
            <a:ext cx="5806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Flag the Unmatched Companion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17320" y="3447288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recognized household member enters alongside someone who cannot be identified, that pairing is treated as a distinct event.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178808"/>
            <a:ext cx="384048" cy="384048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5" name="Text 13"/>
          <p:cNvSpPr/>
          <p:nvPr/>
        </p:nvSpPr>
        <p:spPr>
          <a:xfrm>
            <a:off x="868680" y="417880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133088"/>
            <a:ext cx="5806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Raise an Immediate Tailgating Alert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4416552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attempts that piggyback on a legitimate opening trigger their own warning, closing a gap pure face-matching would miss.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148072"/>
            <a:ext cx="384048" cy="384048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9" name="Text 17"/>
          <p:cNvSpPr/>
          <p:nvPr/>
        </p:nvSpPr>
        <p:spPr>
          <a:xfrm>
            <a:off x="868680" y="51480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5102352"/>
            <a:ext cx="5806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Keep Recognition as Step One, Not the Verdict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17320" y="5385816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matched face still only starts the evaluation — it never ends 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12213A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SCENE READ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09560" y="2286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1F3A5F"/>
          </a:solidFill>
        </p:spPr>
      </p:sp>
      <p:sp>
        <p:nvSpPr>
          <p:cNvPr id="25" name="Shape 23"/>
          <p:cNvSpPr/>
          <p:nvPr/>
        </p:nvSpPr>
        <p:spPr>
          <a:xfrm>
            <a:off x="8092440" y="2468880"/>
            <a:ext cx="502920" cy="502920"/>
          </a:xfrm>
          <a:prstGeom prst="ellipse">
            <a:avLst/>
          </a:prstGeom>
          <a:solidFill>
            <a:srgbClr val="2FA365"/>
          </a:solidFill>
        </p:spPr>
      </p:sp>
      <p:sp>
        <p:nvSpPr>
          <p:cNvPr id="26" name="Text 24"/>
          <p:cNvSpPr/>
          <p:nvPr/>
        </p:nvSpPr>
        <p:spPr>
          <a:xfrm>
            <a:off x="8092440" y="24688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32520" y="24688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 A — Homeowner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32520" y="2743200"/>
            <a:ext cx="2514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 confirmed, liveness passed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09560" y="3886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3A1F26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4069080"/>
            <a:ext cx="502920" cy="502920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31" name="Text 29"/>
          <p:cNvSpPr/>
          <p:nvPr/>
        </p:nvSpPr>
        <p:spPr>
          <a:xfrm>
            <a:off x="8092440" y="406908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32520" y="40690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 B — Unrecognized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732520" y="4343400"/>
            <a:ext cx="2514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C6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match on file — entered alongside Person 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09560" y="544068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TAILGATING ALERT TRIGGERED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LAYERED 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Proving It's a Real Person, at the Right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6" name="Text 4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Liveness &amp; Anti-Spoofing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photo, a tablet screen, or a mask can fool identity matching alone. Liveness checks confirm an actual, physically present human before recognition is trusted — shutting down the most common spoofing attempts outright.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484632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069080"/>
            <a:ext cx="109728" cy="109728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1" name="Text 9"/>
          <p:cNvSpPr/>
          <p:nvPr/>
        </p:nvSpPr>
        <p:spPr>
          <a:xfrm>
            <a:off x="1097280" y="395020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 replay attempts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526280"/>
            <a:ext cx="109728" cy="109728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3" name="Text 11"/>
          <p:cNvSpPr/>
          <p:nvPr/>
        </p:nvSpPr>
        <p:spPr>
          <a:xfrm>
            <a:off x="1097280" y="440740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 / tablet playback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983480"/>
            <a:ext cx="109728" cy="109728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5" name="Text 13"/>
          <p:cNvSpPr/>
          <p:nvPr/>
        </p:nvSpPr>
        <p:spPr>
          <a:xfrm>
            <a:off x="1097280" y="486460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mask presentation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548640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are blocked before identity is ever confirmed.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12213A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9" name="Text 17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78040" y="192024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Schedule-Aware Access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Approval isn't permanent — it's tied to a window of time. The same verified identity can be perfectly normal at one hour and a red flag at another.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E3F27"/>
          </a:solidFill>
        </p:spPr>
      </p:sp>
      <p:sp>
        <p:nvSpPr>
          <p:cNvPr id="23" name="Text 21"/>
          <p:cNvSpPr/>
          <p:nvPr/>
        </p:nvSpPr>
        <p:spPr>
          <a:xfrm>
            <a:off x="6720840" y="3675888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10:00 AM — Expected Worker Arrival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20840" y="3950208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E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Within approved hours — treated as routine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46177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3A1F26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727448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11:30 PM — Same Person, Same Face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20840" y="5001768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6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Outside approved hours — anomaly triggered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 &amp; VULNERABILITY AWARENESS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 Changes What 'Safe' Means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ROOM-LEVEL PERMISSIONS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home is divided into zones — living areas, kitchen, bedrooms, study — each with its own access rules. A guest cleared for the living room who steps into a bedroom crosses a line the system is built to notice immediately.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4F5EA"/>
          </a:solidFill>
        </p:spPr>
      </p:sp>
      <p:sp>
        <p:nvSpPr>
          <p:cNvPr id="8" name="Text 6"/>
          <p:cNvSpPr/>
          <p:nvPr/>
        </p:nvSpPr>
        <p:spPr>
          <a:xfrm>
            <a:off x="1005840" y="3904488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Living Room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7947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4F5EA"/>
          </a:solidFill>
        </p:spPr>
      </p:sp>
      <p:sp>
        <p:nvSpPr>
          <p:cNvPr id="11" name="Text 9"/>
          <p:cNvSpPr/>
          <p:nvPr/>
        </p:nvSpPr>
        <p:spPr>
          <a:xfrm>
            <a:off x="3520440" y="3904488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Kitchen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8463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BE7E1"/>
          </a:solidFill>
        </p:spPr>
      </p:sp>
      <p:sp>
        <p:nvSpPr>
          <p:cNvPr id="14" name="Text 12"/>
          <p:cNvSpPr/>
          <p:nvPr/>
        </p:nvSpPr>
        <p:spPr>
          <a:xfrm>
            <a:off x="1005840" y="4956048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4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8463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BE7E1"/>
          </a:solidFill>
        </p:spPr>
      </p:sp>
      <p:sp>
        <p:nvSpPr>
          <p:cNvPr id="17" name="Text 15"/>
          <p:cNvSpPr/>
          <p:nvPr/>
        </p:nvSpPr>
        <p:spPr>
          <a:xfrm>
            <a:off x="3520440" y="4956048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Bedroom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20440" y="53035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43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Restricted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12213A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874520"/>
            <a:ext cx="502920" cy="502920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21" name="Text 19"/>
          <p:cNvSpPr/>
          <p:nvPr/>
        </p:nvSpPr>
        <p:spPr>
          <a:xfrm>
            <a:off x="6629400" y="187452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Child-Alone Protocol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2514600"/>
            <a:ext cx="4709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9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minors are detected without a supervising adult present, the entire risk framework shifts into a heightened state — the same event that would normally pass as routine is re-evaluated as significantly more serious.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4709160" cy="0"/>
          </a:xfrm>
          <a:prstGeom prst="line">
            <a:avLst/>
          </a:prstGeom>
          <a:noFill/>
          <a:ln w="12700">
            <a:solidFill>
              <a:srgbClr val="3A5A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069080"/>
            <a:ext cx="4709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ESCALATION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4370832"/>
            <a:ext cx="4709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 arrival, no children home  →  Routine, low concern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4754880"/>
            <a:ext cx="4709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arrival, child home alone  →  Elevated risk, active review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525780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3A1F26"/>
          </a:solidFill>
        </p:spPr>
      </p:sp>
      <p:sp>
        <p:nvSpPr>
          <p:cNvPr id="29" name="Text 27"/>
          <p:cNvSpPr/>
          <p:nvPr/>
        </p:nvSpPr>
        <p:spPr>
          <a:xfrm>
            <a:off x="6766560" y="5257800"/>
            <a:ext cx="4480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5C6B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trigger, different verdict — because context changed.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QUANTIFIED THREAT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Safe/Unsafe Labels to a Cumulative Risk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Rather than a binary alarm, every signal contributes weighted points toward one running score. Multiple minor anomalies can add up to a serious alert, even when no single factor would have triggered one alone.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697480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12213A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73736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WHAT'S NORMAL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0" y="2057400"/>
            <a:ext cx="4754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fixed weights, the system continuously builds a picture of everyday household rhythms — typical arrival times, usual visitors, ordinary movement patterns.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3300984"/>
            <a:ext cx="109728" cy="109728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0" name="Text 7"/>
          <p:cNvSpPr/>
          <p:nvPr/>
        </p:nvSpPr>
        <p:spPr>
          <a:xfrm>
            <a:off x="6812280" y="31729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Modeling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12280" y="3465576"/>
            <a:ext cx="4480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Recurring routines are learned automatically, without manual rule-writing.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0" y="4169664"/>
            <a:ext cx="109728" cy="109728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3" name="Text 10"/>
          <p:cNvSpPr/>
          <p:nvPr/>
        </p:nvSpPr>
        <p:spPr>
          <a:xfrm>
            <a:off x="6812280" y="404164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Deviation Sensitivity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12280" y="4334256"/>
            <a:ext cx="4480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Sharp departures from that baseline push the score up, even for events with no fixed rule against them.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0" y="5038344"/>
            <a:ext cx="109728" cy="109728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6" name="Text 13"/>
          <p:cNvSpPr/>
          <p:nvPr/>
        </p:nvSpPr>
        <p:spPr>
          <a:xfrm>
            <a:off x="6812280" y="491032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False Alarms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12280" y="5202936"/>
            <a:ext cx="44805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scoring is cumulative and pattern-aware, isolated harmless quirks don't trip a full alert on their own.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TRANSPARENCY &amp; HUMAN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 Alert Comes With Its Reasoning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521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LIVE TRUST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2120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is never fixed at the door. It is recalculated continuously from five inputs — identity, liveness, schedule, location, and behavior — so the system's confidence reflects the current moment, not just the initial scan.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520440"/>
            <a:ext cx="1024128" cy="685800"/>
          </a:xfrm>
          <a:prstGeom prst="roundRect">
            <a:avLst>
              <a:gd name="adj" fmla="val 10667"/>
            </a:avLst>
          </a:prstGeom>
          <a:solidFill>
            <a:srgbClr val="12213A"/>
          </a:solidFill>
        </p:spPr>
      </p:sp>
      <p:sp>
        <p:nvSpPr>
          <p:cNvPr id="8" name="Text 6"/>
          <p:cNvSpPr/>
          <p:nvPr/>
        </p:nvSpPr>
        <p:spPr>
          <a:xfrm>
            <a:off x="868680" y="3520440"/>
            <a:ext cx="10241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7672" y="3520440"/>
            <a:ext cx="1024128" cy="685800"/>
          </a:xfrm>
          <a:prstGeom prst="roundRect">
            <a:avLst>
              <a:gd name="adj" fmla="val 10667"/>
            </a:avLst>
          </a:prstGeom>
          <a:solidFill>
            <a:srgbClr val="12213A"/>
          </a:solidFill>
        </p:spPr>
      </p:sp>
      <p:sp>
        <p:nvSpPr>
          <p:cNvPr id="10" name="Text 8"/>
          <p:cNvSpPr/>
          <p:nvPr/>
        </p:nvSpPr>
        <p:spPr>
          <a:xfrm>
            <a:off x="1947672" y="3520440"/>
            <a:ext cx="10241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Liveness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26664" y="3520440"/>
            <a:ext cx="1024128" cy="685800"/>
          </a:xfrm>
          <a:prstGeom prst="roundRect">
            <a:avLst>
              <a:gd name="adj" fmla="val 10667"/>
            </a:avLst>
          </a:prstGeom>
          <a:solidFill>
            <a:srgbClr val="12213A"/>
          </a:solidFill>
        </p:spPr>
      </p:sp>
      <p:sp>
        <p:nvSpPr>
          <p:cNvPr id="12" name="Text 10"/>
          <p:cNvSpPr/>
          <p:nvPr/>
        </p:nvSpPr>
        <p:spPr>
          <a:xfrm>
            <a:off x="3026664" y="3520440"/>
            <a:ext cx="10241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05656" y="3520440"/>
            <a:ext cx="1024128" cy="685800"/>
          </a:xfrm>
          <a:prstGeom prst="roundRect">
            <a:avLst>
              <a:gd name="adj" fmla="val 10667"/>
            </a:avLst>
          </a:prstGeom>
          <a:solidFill>
            <a:srgbClr val="12213A"/>
          </a:solidFill>
        </p:spPr>
      </p:sp>
      <p:sp>
        <p:nvSpPr>
          <p:cNvPr id="14" name="Text 12"/>
          <p:cNvSpPr/>
          <p:nvPr/>
        </p:nvSpPr>
        <p:spPr>
          <a:xfrm>
            <a:off x="4105656" y="3520440"/>
            <a:ext cx="10241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84648" y="3520440"/>
            <a:ext cx="1024128" cy="685800"/>
          </a:xfrm>
          <a:prstGeom prst="roundRect">
            <a:avLst>
              <a:gd name="adj" fmla="val 10667"/>
            </a:avLst>
          </a:prstGeom>
          <a:solidFill>
            <a:srgbClr val="12213A"/>
          </a:solidFill>
        </p:spPr>
      </p:sp>
      <p:sp>
        <p:nvSpPr>
          <p:cNvPr id="16" name="Text 14"/>
          <p:cNvSpPr/>
          <p:nvPr/>
        </p:nvSpPr>
        <p:spPr>
          <a:xfrm>
            <a:off x="5184648" y="3520440"/>
            <a:ext cx="10241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434840"/>
            <a:ext cx="521208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572000"/>
            <a:ext cx="52120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Guardians see the full breakdown behind any alert — e.g. “Child-Alone Status + Unapproved Zone Entry” — and retain the final call.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600200"/>
            <a:ext cx="4892040" cy="4480560"/>
          </a:xfrm>
          <a:prstGeom prst="roundRect">
            <a:avLst>
              <a:gd name="adj" fmla="val 2041"/>
            </a:avLst>
          </a:prstGeom>
          <a:solidFill>
            <a:srgbClr val="12213A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82880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GUARDIAN OVERRIDE PANEL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214884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Risk Score: 90 / 100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Unapproved zone entry while child is home alone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40880" y="3154680"/>
            <a:ext cx="2011680" cy="594360"/>
          </a:xfrm>
          <a:prstGeom prst="roundRect">
            <a:avLst>
              <a:gd name="adj" fmla="val 49231"/>
            </a:avLst>
          </a:prstGeom>
          <a:solidFill>
            <a:srgbClr val="2FA365"/>
          </a:solidFill>
        </p:spPr>
      </p:sp>
      <p:sp>
        <p:nvSpPr>
          <p:cNvPr id="24" name="Text 22"/>
          <p:cNvSpPr/>
          <p:nvPr/>
        </p:nvSpPr>
        <p:spPr>
          <a:xfrm>
            <a:off x="7040880" y="315468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35440" y="315468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FF6B4A"/>
          </a:solidFill>
        </p:spPr>
      </p:sp>
      <p:sp>
        <p:nvSpPr>
          <p:cNvPr id="26" name="Text 24"/>
          <p:cNvSpPr/>
          <p:nvPr/>
        </p:nvSpPr>
        <p:spPr>
          <a:xfrm>
            <a:off x="9235440" y="3154680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DENY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0" y="4023360"/>
            <a:ext cx="4297680" cy="0"/>
          </a:xfrm>
          <a:prstGeom prst="line">
            <a:avLst/>
          </a:prstGeom>
          <a:noFill/>
          <a:ln w="12700">
            <a:solidFill>
              <a:srgbClr val="3A5A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4206240"/>
            <a:ext cx="42976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explains; the guardian decides. Automation never has the last word.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INTEGRATION &amp;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Vision Confirmed by Physical Sensors, Then Acted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Sensor Fusion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1089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analysis is cross-checked against magnetic door contacts and PIR motion sensors, so a visual read is confirmed by physical evidence before it's acted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657600" cy="4480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828800"/>
            <a:ext cx="457200" cy="45720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1" name="Text 9"/>
          <p:cNvSpPr/>
          <p:nvPr/>
        </p:nvSpPr>
        <p:spPr>
          <a:xfrm>
            <a:off x="470916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87452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Dual-Tier Alerts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331720"/>
            <a:ext cx="31089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6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on-site ESP32 alarm sounds immediately, while guardians receive SMS and push notifications remotely — covering both in-home and away scenarios.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794760"/>
            <a:ext cx="3108960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931920"/>
            <a:ext cx="3108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Cooldown grouping prevents repeat alerts on one ongoing event from flooding a guardian's phone.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1600200"/>
            <a:ext cx="3703320" cy="4480560"/>
          </a:xfrm>
          <a:prstGeom prst="roundRect">
            <a:avLst>
              <a:gd name="adj" fmla="val 2469"/>
            </a:avLst>
          </a:prstGeom>
          <a:solidFill>
            <a:srgbClr val="12213A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0" y="1828800"/>
            <a:ext cx="457200" cy="457200"/>
          </a:xfrm>
          <a:prstGeom prst="ellipse">
            <a:avLst/>
          </a:prstGeom>
          <a:solidFill>
            <a:srgbClr val="FF6B4A"/>
          </a:solidFill>
        </p:spPr>
      </p:sp>
      <p:sp>
        <p:nvSpPr>
          <p:cNvPr id="18" name="Text 16"/>
          <p:cNvSpPr/>
          <p:nvPr/>
        </p:nvSpPr>
        <p:spPr>
          <a:xfrm>
            <a:off x="859536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182880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Automatic Evidence Log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0" y="2423160"/>
            <a:ext cx="31089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moment a critical threshold is crossed, the system captures a photo snapshot, records supporting video, and securely logs the event — no manual step required.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95360" y="4114800"/>
            <a:ext cx="3108960" cy="0"/>
          </a:xfrm>
          <a:prstGeom prst="line">
            <a:avLst/>
          </a:prstGeom>
          <a:noFill/>
          <a:ln w="12700">
            <a:solidFill>
              <a:srgbClr val="3A5A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4251960"/>
            <a:ext cx="31089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is timestamped and stored automatically — ready for review after the fact.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12-Month Path From Prototype to Research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5786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1–2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186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98648"/>
            <a:ext cx="32186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 the Python / OpenCV base and get basic facial recognition working reliably.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2" name="Text 10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892808"/>
            <a:ext cx="25786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3–4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32186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Advanced Mechanics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2898648"/>
            <a:ext cx="32186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multi-person tracking, liveness checks, tailgating logic, and initial IoT hardware links.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18" name="Text 16"/>
          <p:cNvSpPr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1892808"/>
            <a:ext cx="25786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5–6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58200" y="2514600"/>
            <a:ext cx="32186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Contextual Rules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2898648"/>
            <a:ext cx="32186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out spatial zoning, schedule-based access, the Child-Alone Protocol, and risk scoring.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24" name="Text 22"/>
          <p:cNvSpPr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4178808"/>
            <a:ext cx="25786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7–8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32186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5184648"/>
            <a:ext cx="32186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behavior-pattern models and anomaly detection aimed at cutting false alarms.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97764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30" name="Text 28"/>
          <p:cNvSpPr/>
          <p:nvPr/>
        </p:nvSpPr>
        <p:spPr>
          <a:xfrm>
            <a:off x="4617720" y="42062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57800" y="4178808"/>
            <a:ext cx="25786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9–10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4800600"/>
            <a:ext cx="32186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Unification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17720" y="5184648"/>
            <a:ext cx="32186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ESP32 alerting, finalize the guardian override interface, deploy the mobile dashboard.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397764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58200" y="4206240"/>
            <a:ext cx="502920" cy="502920"/>
          </a:xfrm>
          <a:prstGeom prst="ellipse">
            <a:avLst/>
          </a:prstGeom>
          <a:solidFill>
            <a:srgbClr val="12213A"/>
          </a:solidFill>
        </p:spPr>
      </p:sp>
      <p:sp>
        <p:nvSpPr>
          <p:cNvPr id="36" name="Text 34"/>
          <p:cNvSpPr/>
          <p:nvPr/>
        </p:nvSpPr>
        <p:spPr>
          <a:xfrm>
            <a:off x="8458200" y="420624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98280" y="4178808"/>
            <a:ext cx="25786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Months 11–12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58200" y="4800600"/>
            <a:ext cx="321868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Academic Research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458200" y="5184648"/>
            <a:ext cx="321868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empirical trials, collect dataset metrics, and finalize the research write-up.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DESIGN &amp; EVALUATION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 Whether Context Beats Identity Alone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D9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research question: does fusing identity, timing, location, liveness, behavior, and sensor data meaningfully reduce false positives compared with facial recognition used in isolation?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2834640"/>
          </a:xfrm>
          <a:prstGeom prst="roundRect">
            <a:avLst>
              <a:gd name="adj" fmla="val 3226"/>
            </a:avLst>
          </a:prstGeom>
          <a:solidFill>
            <a:srgbClr val="1F3A5F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5176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 —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Standard Facial Recognition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4754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Recognized → treated as safe. Unrecognized → alert. No further context considered.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4231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F6B4A"/>
          </a:solidFill>
          <a:ln w="12700">
            <a:solidFill>
              <a:srgbClr val="D8E2EE"/>
            </a:solidFill>
            <a:prstDash val="solid"/>
          </a:ln>
          <a:effectLst>
            <a:outerShdw blurRad="76200" dist="25400" dir="5400000" algn="bl" rotWithShape="0">
              <a:srgbClr val="1B263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65176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A16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B — PROPOSED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Context-Aware Fusion 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3429000"/>
            <a:ext cx="47548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16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 + Time + Location + Liveness + Behavior + Sensors, combined into one cumulative decision.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4406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 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76072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576072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576072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Alarm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576072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576072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576072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576072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0" y="576072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1F3A5F"/>
          </a:solidFill>
          <a:ln w="12700">
            <a:solidFill>
              <a:srgbClr val="3A5A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5760720"/>
            <a:ext cx="2011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Multi-Modal Intrusion Detection · Zero-Trust Smart Home Security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8017</Words>
  <Application>WPS Presentation</Application>
  <PresentationFormat>On-screen Show (16:9)</PresentationFormat>
  <Paragraphs>355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Yatharth Verma</cp:lastModifiedBy>
  <cp:revision>2</cp:revision>
  <dcterms:created xsi:type="dcterms:W3CDTF">2026-09-12T08:13:00Z</dcterms:created>
  <dcterms:modified xsi:type="dcterms:W3CDTF">2026-09-12T08:17:55Z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BFE91526DD96478D9E2A12ADFD4AA5E6_12</vt:lpwstr>
  </property>
  <property fmtid="{D5CDD505-2E9C-101B-9397-08002B2CF9AE}" pid="3" name="KSOProductBuildVer">
    <vt:lpwstr>2057-12.2.0.23206</vt:lpwstr>
  </property>
</Properties>
</file>